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kafi_slide_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kafi_slide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kafi_slide_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kafi_slide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kafi_slide_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kafi_slide_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kafi_slide_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kafi_slide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kafi_slide_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kafi_slide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kafi_slide_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kafi_slide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kafi_slide_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kafi_slide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kafi_slide_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kafi_slide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kafi_slide_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kafi_slide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kafi_slide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kafi_slide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kafi_slide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kafi_slide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kafi_slide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kafi_slide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B4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457200" y="165100"/>
            <a:ext cx="749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F2C66D"/>
                </a:solidFill>
              </a:rPr>
              <a:t>PENDIDIKAN PANCASILA</a:t>
            </a:r>
            <a:endParaRPr b="1" sz="900">
              <a:solidFill>
                <a:srgbClr val="F2C66D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8280400" y="203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300">
                <a:solidFill>
                  <a:srgbClr val="FFFFFF"/>
                </a:solidFill>
              </a:rPr>
              <a:t>01</a:t>
            </a:r>
            <a:endParaRPr b="1" sz="1300">
              <a:solidFill>
                <a:srgbClr val="FFFFFF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57200" y="914400"/>
            <a:ext cx="82551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700">
                <a:solidFill>
                  <a:srgbClr val="FFFFFF"/>
                </a:solidFill>
              </a:rPr>
              <a:t>Pancasila sebagai</a:t>
            </a:r>
            <a:endParaRPr b="1" sz="37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700">
                <a:solidFill>
                  <a:srgbClr val="FFFFFF"/>
                </a:solidFill>
              </a:rPr>
              <a:t>Kepribadian Bangsa</a:t>
            </a:r>
            <a:endParaRPr b="1" sz="3700">
              <a:solidFill>
                <a:srgbClr val="FFFFFF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57200" y="2438400"/>
            <a:ext cx="8255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900">
                <a:solidFill>
                  <a:srgbClr val="E6ECF3"/>
                </a:solidFill>
              </a:rPr>
              <a:t>Pendidikan Pancasila • Kelas VIII</a:t>
            </a:r>
            <a:endParaRPr sz="1900">
              <a:solidFill>
                <a:srgbClr val="E6ECF3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900">
                <a:solidFill>
                  <a:srgbClr val="E6ECF3"/>
                </a:solidFill>
              </a:rPr>
              <a:t>Bab I Kedudukan dan Fungsi Pancasila</a:t>
            </a:r>
            <a:endParaRPr sz="1900">
              <a:solidFill>
                <a:srgbClr val="E6ECF3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900">
                <a:solidFill>
                  <a:srgbClr val="E6ECF3"/>
                </a:solidFill>
              </a:rPr>
              <a:t>Subbab D</a:t>
            </a:r>
            <a:endParaRPr sz="1900">
              <a:solidFill>
                <a:srgbClr val="E6ECF3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457200" y="3987800"/>
            <a:ext cx="825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000">
                <a:solidFill>
                  <a:srgbClr val="F2C66D"/>
                </a:solidFill>
              </a:rPr>
              <a:t>Nilai Pancasila dalam sikap dan perilaku sehari-hari</a:t>
            </a:r>
            <a:endParaRPr b="1" sz="2000">
              <a:solidFill>
                <a:srgbClr val="F2C66D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457200" y="4927600"/>
            <a:ext cx="819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CDD5DF"/>
                </a:solidFill>
              </a:rPr>
              <a:t>KELAS VIII  |  Pancasila sebagai Kepribadian Bangsa  |  Buku paket hlm. 14–16</a:t>
            </a:r>
            <a:endParaRPr sz="800">
              <a:solidFill>
                <a:srgbClr val="CDD5D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457200" y="165100"/>
            <a:ext cx="749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6A7280"/>
                </a:solidFill>
              </a:rPr>
              <a:t>BAB I • KEDUDUKAN DAN FUNGSI PANCASILA</a:t>
            </a:r>
            <a:endParaRPr b="1" sz="900">
              <a:solidFill>
                <a:srgbClr val="6A7280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8280400" y="203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300">
                <a:solidFill>
                  <a:srgbClr val="BD3345"/>
                </a:solidFill>
              </a:rPr>
              <a:t>02</a:t>
            </a:r>
            <a:endParaRPr b="1" sz="1300">
              <a:solidFill>
                <a:srgbClr val="BD3345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457200" y="596900"/>
            <a:ext cx="8255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900">
                <a:solidFill>
                  <a:srgbClr val="172B46"/>
                </a:solidFill>
              </a:rPr>
              <a:t>Makna kepribadian bangsa</a:t>
            </a:r>
            <a:endParaRPr b="1" sz="2900">
              <a:solidFill>
                <a:srgbClr val="172B46"/>
              </a:solidFill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457200" y="1485900"/>
            <a:ext cx="8229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Kepribadian bangsa tampak dalam watak,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karakter, dan perilaku suatu bangsa.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Pancasila mencerminkan nilai luhur yang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membentuk kepribadian bangsa Indonesia.</a:t>
            </a:r>
            <a:endParaRPr sz="2100">
              <a:solidFill>
                <a:srgbClr val="24354C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457200" y="3784600"/>
            <a:ext cx="8229600" cy="1041300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457200" y="3784600"/>
            <a:ext cx="50700" cy="10413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622300" y="3848100"/>
            <a:ext cx="788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Kepribadian terlihat melalui cara kita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bersikap dan memperlakukan orang lain.</a:t>
            </a:r>
            <a:endParaRPr b="1" sz="1750">
              <a:solidFill>
                <a:srgbClr val="172B46"/>
              </a:solidFill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457200" y="4927600"/>
            <a:ext cx="819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697789"/>
                </a:solidFill>
              </a:rPr>
              <a:t>KELAS VIII  |  Pancasila sebagai Kepribadian Bangsa  |  Buku paket hlm. 14–16</a:t>
            </a:r>
            <a:endParaRPr sz="800">
              <a:solidFill>
                <a:srgbClr val="6977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457200" y="165100"/>
            <a:ext cx="749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6A7280"/>
                </a:solidFill>
              </a:rPr>
              <a:t>BAB I • KEDUDUKAN DAN FUNGSI PANCASILA</a:t>
            </a:r>
            <a:endParaRPr b="1" sz="900">
              <a:solidFill>
                <a:srgbClr val="6A7280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8280400" y="203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300">
                <a:solidFill>
                  <a:srgbClr val="BD3345"/>
                </a:solidFill>
              </a:rPr>
              <a:t>03</a:t>
            </a:r>
            <a:endParaRPr b="1" sz="1300">
              <a:solidFill>
                <a:srgbClr val="BD3345"/>
              </a:solidFill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457200" y="596900"/>
            <a:ext cx="8255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900">
                <a:solidFill>
                  <a:srgbClr val="172B46"/>
                </a:solidFill>
              </a:rPr>
              <a:t>Kedudukan Pancasila saling berkaitan</a:t>
            </a:r>
            <a:endParaRPr b="1" sz="2900">
              <a:solidFill>
                <a:srgbClr val="172B46"/>
              </a:solidFill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57200" y="1485900"/>
            <a:ext cx="8229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Sebagai sumber dari segala sumber hukum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Pancasila menjadi dasar nilai bagi hukum Indonesia.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Sebagai kepribadian bangsa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Nilai Pancasila tercermin dalam sikap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dan perilaku bangsa Indonesia.</a:t>
            </a:r>
            <a:endParaRPr sz="2100">
              <a:solidFill>
                <a:srgbClr val="24354C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457200" y="3784600"/>
            <a:ext cx="8229600" cy="1041300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457200" y="3784600"/>
            <a:ext cx="50700" cy="10413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622300" y="3848100"/>
            <a:ext cx="788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Nilai yang mendasari aturan juga perlu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diwujudkan dalam kehidupan sehari-hari.</a:t>
            </a:r>
            <a:endParaRPr b="1" sz="1750">
              <a:solidFill>
                <a:srgbClr val="172B46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457200" y="4927600"/>
            <a:ext cx="819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697789"/>
                </a:solidFill>
              </a:rPr>
              <a:t>KELAS VIII  |  Pancasila sebagai Kepribadian Bangsa  |  Buku paket hlm. 14–16</a:t>
            </a:r>
            <a:endParaRPr sz="800">
              <a:solidFill>
                <a:srgbClr val="6977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457200" y="165100"/>
            <a:ext cx="749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6A7280"/>
                </a:solidFill>
              </a:rPr>
              <a:t>BAB I • KEDUDUKAN DAN FUNGSI PANCASILA</a:t>
            </a:r>
            <a:endParaRPr b="1" sz="900">
              <a:solidFill>
                <a:srgbClr val="6A7280"/>
              </a:solidFill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8280400" y="203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300">
                <a:solidFill>
                  <a:srgbClr val="BD3345"/>
                </a:solidFill>
              </a:rPr>
              <a:t>04</a:t>
            </a:r>
            <a:endParaRPr b="1" sz="1300">
              <a:solidFill>
                <a:srgbClr val="BD3345"/>
              </a:solidFill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57200" y="596900"/>
            <a:ext cx="8255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900">
                <a:solidFill>
                  <a:srgbClr val="172B46"/>
                </a:solidFill>
              </a:rPr>
              <a:t>Nilai luhur telah hidup di masyarakat</a:t>
            </a:r>
            <a:endParaRPr b="1" sz="2900">
              <a:solidFill>
                <a:srgbClr val="172B46"/>
              </a:solidFill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457200" y="1485900"/>
            <a:ext cx="8229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Nilai luhur bangsa telah hidup sebelum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Pancasila dirumuskan.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Hidup rukun, saling menolong, bermusyawarah,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dan bergotong royong merupakan contohnya.</a:t>
            </a:r>
            <a:endParaRPr sz="2100">
              <a:solidFill>
                <a:srgbClr val="24354C"/>
              </a:solidFill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57200" y="3784600"/>
            <a:ext cx="8229600" cy="1041300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457200" y="3784600"/>
            <a:ext cx="50700" cy="10413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622300" y="3848100"/>
            <a:ext cx="788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Pancasila merangkum nilai luhur bangsa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yang perlu dijaga melalui tindakan nyata.</a:t>
            </a:r>
            <a:endParaRPr b="1" sz="1750">
              <a:solidFill>
                <a:srgbClr val="172B46"/>
              </a:solidFill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457200" y="4927600"/>
            <a:ext cx="819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697789"/>
                </a:solidFill>
              </a:rPr>
              <a:t>KELAS VIII  |  Pancasila sebagai Kepribadian Bangsa  |  Buku paket hlm. 14–16</a:t>
            </a:r>
            <a:endParaRPr sz="800">
              <a:solidFill>
                <a:srgbClr val="6977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457200" y="165100"/>
            <a:ext cx="749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6A7280"/>
                </a:solidFill>
              </a:rPr>
              <a:t>BAB I • KEDUDUKAN DAN FUNGSI PANCASILA</a:t>
            </a:r>
            <a:endParaRPr b="1" sz="900">
              <a:solidFill>
                <a:srgbClr val="6A7280"/>
              </a:solidFill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8280400" y="203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300">
                <a:solidFill>
                  <a:srgbClr val="BD3345"/>
                </a:solidFill>
              </a:rPr>
              <a:t>05</a:t>
            </a:r>
            <a:endParaRPr b="1" sz="1300">
              <a:solidFill>
                <a:srgbClr val="BD3345"/>
              </a:solidFill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57200" y="596900"/>
            <a:ext cx="8255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900">
                <a:solidFill>
                  <a:srgbClr val="172B46"/>
                </a:solidFill>
              </a:rPr>
              <a:t>Sila 1 • Ketuhanan Yang Maha Esa</a:t>
            </a:r>
            <a:endParaRPr b="1" sz="2900">
              <a:solidFill>
                <a:srgbClr val="172B46"/>
              </a:solidFill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57200" y="1485900"/>
            <a:ext cx="8229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Sikap yang mencerminkan sila pertama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Menjalankan ajaran agama.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Mengembangkan keimanan dan ketakwaan.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Menghormati umat beragama lain.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Menjaga kerukunan antarumat beragama.</a:t>
            </a:r>
            <a:endParaRPr sz="2100">
              <a:solidFill>
                <a:srgbClr val="24354C"/>
              </a:solidFill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57200" y="3784600"/>
            <a:ext cx="8229600" cy="1041300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457200" y="3784600"/>
            <a:ext cx="50700" cy="10413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622300" y="3848100"/>
            <a:ext cx="788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Contoh di sekolah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Memberi kesempatan teman beribadah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dan tidak mengejek keyakinannya.</a:t>
            </a:r>
            <a:endParaRPr b="1" sz="1750">
              <a:solidFill>
                <a:srgbClr val="172B46"/>
              </a:solidFill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57200" y="4927600"/>
            <a:ext cx="819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697789"/>
                </a:solidFill>
              </a:rPr>
              <a:t>KELAS VIII  |  Pancasila sebagai Kepribadian Bangsa  |  Buku paket hlm. 14–16</a:t>
            </a:r>
            <a:endParaRPr sz="800">
              <a:solidFill>
                <a:srgbClr val="6977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457200" y="165100"/>
            <a:ext cx="749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6A7280"/>
                </a:solidFill>
              </a:rPr>
              <a:t>BAB I • KEDUDUKAN DAN FUNGSI PANCASILA</a:t>
            </a:r>
            <a:endParaRPr b="1" sz="900">
              <a:solidFill>
                <a:srgbClr val="6A7280"/>
              </a:solidFill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8280400" y="203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300">
                <a:solidFill>
                  <a:srgbClr val="BD3345"/>
                </a:solidFill>
              </a:rPr>
              <a:t>06</a:t>
            </a:r>
            <a:endParaRPr b="1" sz="1300">
              <a:solidFill>
                <a:srgbClr val="BD3345"/>
              </a:solidFill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457200" y="596900"/>
            <a:ext cx="8255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900">
                <a:solidFill>
                  <a:srgbClr val="172B46"/>
                </a:solidFill>
              </a:rPr>
              <a:t>Sila 2 • Kemanusiaan yang Adil dan Beradab</a:t>
            </a:r>
            <a:endParaRPr b="1" sz="2900">
              <a:solidFill>
                <a:srgbClr val="172B46"/>
              </a:solidFill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457200" y="1485900"/>
            <a:ext cx="8229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Sikap yang mencerminkan sila kedua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Menghargai harkat dan martabat manusia.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Memiliki tenggang rasa.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Tidak bertindak semena-mena.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Membela kebenaran dan keadilan.</a:t>
            </a:r>
            <a:endParaRPr sz="2100">
              <a:solidFill>
                <a:srgbClr val="24354C"/>
              </a:solidFill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457200" y="3784600"/>
            <a:ext cx="8229600" cy="1041300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457200" y="3784600"/>
            <a:ext cx="50700" cy="10413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622300" y="3848100"/>
            <a:ext cx="788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Contoh di sekolah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Tidak merundung teman dan membantu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teman yang mengalami kesulitan.</a:t>
            </a:r>
            <a:endParaRPr b="1" sz="1750">
              <a:solidFill>
                <a:srgbClr val="172B46"/>
              </a:solidFill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457200" y="4927600"/>
            <a:ext cx="819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697789"/>
                </a:solidFill>
              </a:rPr>
              <a:t>KELAS VIII  |  Pancasila sebagai Kepribadian Bangsa  |  Buku paket hlm. 14–16</a:t>
            </a:r>
            <a:endParaRPr sz="800">
              <a:solidFill>
                <a:srgbClr val="6977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457200" y="165100"/>
            <a:ext cx="749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6A7280"/>
                </a:solidFill>
              </a:rPr>
              <a:t>BAB I • KEDUDUKAN DAN FUNGSI PANCASILA</a:t>
            </a:r>
            <a:endParaRPr b="1" sz="900">
              <a:solidFill>
                <a:srgbClr val="6A7280"/>
              </a:solidFill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8280400" y="203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300">
                <a:solidFill>
                  <a:srgbClr val="BD3345"/>
                </a:solidFill>
              </a:rPr>
              <a:t>07</a:t>
            </a:r>
            <a:endParaRPr b="1" sz="1300">
              <a:solidFill>
                <a:srgbClr val="BD3345"/>
              </a:solidFill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457200" y="596900"/>
            <a:ext cx="8255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900">
                <a:solidFill>
                  <a:srgbClr val="172B46"/>
                </a:solidFill>
              </a:rPr>
              <a:t>Sila 3 • Persatuan Indonesia</a:t>
            </a:r>
            <a:endParaRPr b="1" sz="2900">
              <a:solidFill>
                <a:srgbClr val="172B46"/>
              </a:solidFill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457200" y="1485900"/>
            <a:ext cx="8229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Sikap yang mencerminkan sila ketiga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Mengutamakan kepentingan bersama.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Mencintai tanah air dan bangsa.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Menjaga persatuan dalam keberagaman.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Bangga menjadi bagian bangsa Indonesia.</a:t>
            </a:r>
            <a:endParaRPr sz="2100">
              <a:solidFill>
                <a:srgbClr val="24354C"/>
              </a:solidFill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457200" y="3784600"/>
            <a:ext cx="8229600" cy="1041300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457200" y="3784600"/>
            <a:ext cx="50700" cy="10413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622300" y="3848100"/>
            <a:ext cx="788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Contoh di sekolah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Bekerja sama meskipun berbeda suku,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agama, atau latar belakang.</a:t>
            </a:r>
            <a:endParaRPr b="1" sz="1750">
              <a:solidFill>
                <a:srgbClr val="172B46"/>
              </a:solidFill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57200" y="4927600"/>
            <a:ext cx="819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697789"/>
                </a:solidFill>
              </a:rPr>
              <a:t>KELAS VIII  |  Pancasila sebagai Kepribadian Bangsa  |  Buku paket hlm. 14–16</a:t>
            </a:r>
            <a:endParaRPr sz="800">
              <a:solidFill>
                <a:srgbClr val="6977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457200" y="165100"/>
            <a:ext cx="749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6A7280"/>
                </a:solidFill>
              </a:rPr>
              <a:t>BAB I • KEDUDUKAN DAN FUNGSI PANCASILA</a:t>
            </a:r>
            <a:endParaRPr b="1" sz="900">
              <a:solidFill>
                <a:srgbClr val="6A7280"/>
              </a:solidFill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8280400" y="203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300">
                <a:solidFill>
                  <a:srgbClr val="BD3345"/>
                </a:solidFill>
              </a:rPr>
              <a:t>08</a:t>
            </a:r>
            <a:endParaRPr b="1" sz="1300">
              <a:solidFill>
                <a:srgbClr val="BD3345"/>
              </a:solidFill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457200" y="596900"/>
            <a:ext cx="8255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900">
                <a:solidFill>
                  <a:srgbClr val="172B46"/>
                </a:solidFill>
              </a:rPr>
              <a:t>Sila 4 • Musyawarah dan tanggung jawab</a:t>
            </a:r>
            <a:endParaRPr b="1" sz="2900">
              <a:solidFill>
                <a:srgbClr val="172B46"/>
              </a:solidFill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457200" y="1485900"/>
            <a:ext cx="8229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850">
                <a:solidFill>
                  <a:srgbClr val="24354C"/>
                </a:solidFill>
              </a:rPr>
              <a:t>Kerakyatan yang Dipimpin oleh Hikmat Kebijaksanaan</a:t>
            </a:r>
            <a:endParaRPr sz="185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850">
                <a:solidFill>
                  <a:srgbClr val="24354C"/>
                </a:solidFill>
              </a:rPr>
              <a:t>dalam Permusyawaratan/Perwakilan</a:t>
            </a:r>
            <a:endParaRPr sz="185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850">
                <a:solidFill>
                  <a:srgbClr val="24354C"/>
                </a:solidFill>
              </a:rPr>
              <a:t>• Mengutamakan musyawarah untuk keputusan bersama.</a:t>
            </a:r>
            <a:endParaRPr sz="185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850">
                <a:solidFill>
                  <a:srgbClr val="24354C"/>
                </a:solidFill>
              </a:rPr>
              <a:t>• Menghormati keputusan hasil musyawarah.</a:t>
            </a:r>
            <a:endParaRPr sz="185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850">
                <a:solidFill>
                  <a:srgbClr val="24354C"/>
                </a:solidFill>
              </a:rPr>
              <a:t>• Mempertanggungjawabkan keputusan secara moral.</a:t>
            </a:r>
            <a:endParaRPr sz="1850">
              <a:solidFill>
                <a:srgbClr val="24354C"/>
              </a:solidFill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457200" y="3784600"/>
            <a:ext cx="8229600" cy="1041300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457200" y="3784600"/>
            <a:ext cx="50700" cy="10413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622300" y="3848100"/>
            <a:ext cx="788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Contoh di sekolah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Mendengarkan usul teman dan menjalankan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hasil kesepakatan kelas.</a:t>
            </a:r>
            <a:endParaRPr b="1" sz="1750">
              <a:solidFill>
                <a:srgbClr val="172B46"/>
              </a:solidFill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457200" y="4927600"/>
            <a:ext cx="819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697789"/>
                </a:solidFill>
              </a:rPr>
              <a:t>KELAS VIII  |  Pancasila sebagai Kepribadian Bangsa  |  Buku paket hlm. 14–16</a:t>
            </a:r>
            <a:endParaRPr sz="800">
              <a:solidFill>
                <a:srgbClr val="6977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457200" y="165100"/>
            <a:ext cx="749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6A7280"/>
                </a:solidFill>
              </a:rPr>
              <a:t>BAB I • KEDUDUKAN DAN FUNGSI PANCASILA</a:t>
            </a:r>
            <a:endParaRPr b="1" sz="900">
              <a:solidFill>
                <a:srgbClr val="6A7280"/>
              </a:solidFill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8280400" y="203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300">
                <a:solidFill>
                  <a:srgbClr val="BD3345"/>
                </a:solidFill>
              </a:rPr>
              <a:t>09</a:t>
            </a:r>
            <a:endParaRPr b="1" sz="1300">
              <a:solidFill>
                <a:srgbClr val="BD3345"/>
              </a:solidFill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457200" y="596900"/>
            <a:ext cx="8255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400">
                <a:solidFill>
                  <a:srgbClr val="172B46"/>
                </a:solidFill>
              </a:rPr>
              <a:t>Sila 5 • Keadilan Sosial bagi Seluruh Rakyat Indonesia</a:t>
            </a:r>
            <a:endParaRPr b="1" sz="2400">
              <a:solidFill>
                <a:srgbClr val="172B46"/>
              </a:solidFill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457200" y="1485900"/>
            <a:ext cx="8229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Sikap yang mencerminkan sila kelima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Bersikap adil dan menghormati hak orang lain.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Menyeimbangkan hak dan kewajiban.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Gemar memberikan pertolongan.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• Menghargai hasil karya orang lain.</a:t>
            </a:r>
            <a:endParaRPr sz="2100">
              <a:solidFill>
                <a:srgbClr val="24354C"/>
              </a:solidFill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457200" y="3784600"/>
            <a:ext cx="8229600" cy="1041300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1"/>
          <p:cNvSpPr/>
          <p:nvPr/>
        </p:nvSpPr>
        <p:spPr>
          <a:xfrm>
            <a:off x="457200" y="3784600"/>
            <a:ext cx="50700" cy="10413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1"/>
          <p:cNvSpPr/>
          <p:nvPr/>
        </p:nvSpPr>
        <p:spPr>
          <a:xfrm>
            <a:off x="622300" y="3848100"/>
            <a:ext cx="788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Contoh di sekolah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Membagi tugas secara adil dan mengakui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kontribusi teman dalam karya bersama.</a:t>
            </a:r>
            <a:endParaRPr b="1" sz="1750">
              <a:solidFill>
                <a:srgbClr val="172B46"/>
              </a:solidFill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457200" y="4927600"/>
            <a:ext cx="819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697789"/>
                </a:solidFill>
              </a:rPr>
              <a:t>KELAS VIII  |  Pancasila sebagai Kepribadian Bangsa  |  Buku paket hlm. 14–16</a:t>
            </a:r>
            <a:endParaRPr sz="800">
              <a:solidFill>
                <a:srgbClr val="6977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457200" y="165100"/>
            <a:ext cx="749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6A7280"/>
                </a:solidFill>
              </a:rPr>
              <a:t>BAB I • KEDUDUKAN DAN FUNGSI PANCASILA</a:t>
            </a:r>
            <a:endParaRPr b="1" sz="900">
              <a:solidFill>
                <a:srgbClr val="6A7280"/>
              </a:solidFill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8280400" y="203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300">
                <a:solidFill>
                  <a:srgbClr val="BD3345"/>
                </a:solidFill>
              </a:rPr>
              <a:t>10</a:t>
            </a:r>
            <a:endParaRPr b="1" sz="1300">
              <a:solidFill>
                <a:srgbClr val="BD3345"/>
              </a:solidFill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457200" y="596900"/>
            <a:ext cx="8255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900">
                <a:solidFill>
                  <a:srgbClr val="172B46"/>
                </a:solidFill>
              </a:rPr>
              <a:t>Kepribadian bangsa di era globalisasi</a:t>
            </a:r>
            <a:endParaRPr b="1" sz="2900">
              <a:solidFill>
                <a:srgbClr val="172B46"/>
              </a:solidFill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457200" y="1485900"/>
            <a:ext cx="8229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Globalisasi memperluas perjumpaan dengan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informasi, kebiasaan, dan budaya dari berbagai negara.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Buku menyoroti tantangan menjaga jati diri: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meniru perilaku yang dianggap modern tanpa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mempertimbangkan nilai Pancasila.</a:t>
            </a:r>
            <a:endParaRPr sz="2100">
              <a:solidFill>
                <a:srgbClr val="24354C"/>
              </a:solidFill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457200" y="3784600"/>
            <a:ext cx="8229600" cy="1041300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457200" y="3784600"/>
            <a:ext cx="50700" cy="10413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2"/>
          <p:cNvSpPr/>
          <p:nvPr/>
        </p:nvSpPr>
        <p:spPr>
          <a:xfrm>
            <a:off x="622300" y="3848100"/>
            <a:ext cx="788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Sikap yang diperlukan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Terbuka untuk belajar dan tetap menilai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perilaku berdasarkan nilai Pancasila.</a:t>
            </a:r>
            <a:endParaRPr b="1" sz="1750">
              <a:solidFill>
                <a:srgbClr val="172B46"/>
              </a:solidFill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457200" y="4927600"/>
            <a:ext cx="819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697789"/>
                </a:solidFill>
              </a:rPr>
              <a:t>KELAS VIII  |  Pancasila sebagai Kepribadian Bangsa  |  Buku paket hlm. 14–16</a:t>
            </a:r>
            <a:endParaRPr sz="800">
              <a:solidFill>
                <a:srgbClr val="6977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3"/>
          <p:cNvSpPr/>
          <p:nvPr/>
        </p:nvSpPr>
        <p:spPr>
          <a:xfrm>
            <a:off x="457200" y="165100"/>
            <a:ext cx="749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6A7280"/>
                </a:solidFill>
              </a:rPr>
              <a:t>BAB I • KEDUDUKAN DAN FUNGSI PANCASILA</a:t>
            </a:r>
            <a:endParaRPr b="1" sz="900">
              <a:solidFill>
                <a:srgbClr val="6A7280"/>
              </a:solidFill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8280400" y="203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300">
                <a:solidFill>
                  <a:srgbClr val="BD3345"/>
                </a:solidFill>
              </a:rPr>
              <a:t>11</a:t>
            </a:r>
            <a:endParaRPr b="1" sz="1300">
              <a:solidFill>
                <a:srgbClr val="BD3345"/>
              </a:solidFill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457200" y="596900"/>
            <a:ext cx="8255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900">
                <a:solidFill>
                  <a:srgbClr val="172B46"/>
                </a:solidFill>
              </a:rPr>
              <a:t>Menyikapi pengaruh budaya luar</a:t>
            </a:r>
            <a:endParaRPr b="1" sz="2900">
              <a:solidFill>
                <a:srgbClr val="172B46"/>
              </a:solidFill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457200" y="1485900"/>
            <a:ext cx="8229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>
                <a:solidFill>
                  <a:srgbClr val="24354C"/>
                </a:solidFill>
              </a:rPr>
              <a:t>Menyukai musik atau film dari luar negeri</a:t>
            </a:r>
            <a:endParaRPr sz="20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>
                <a:solidFill>
                  <a:srgbClr val="24354C"/>
                </a:solidFill>
              </a:rPr>
              <a:t>perlu dibedakan dari perilaku yang bertentangan</a:t>
            </a:r>
            <a:endParaRPr sz="20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>
                <a:solidFill>
                  <a:srgbClr val="24354C"/>
                </a:solidFill>
              </a:rPr>
              <a:t>dengan nilai Pancasila.</a:t>
            </a:r>
            <a:endParaRPr sz="20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>
                <a:solidFill>
                  <a:srgbClr val="24354C"/>
                </a:solidFill>
              </a:rPr>
              <a:t>Yang dinilai ialah sikap dan tindakan:</a:t>
            </a:r>
            <a:endParaRPr sz="20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>
                <a:solidFill>
                  <a:srgbClr val="24354C"/>
                </a:solidFill>
              </a:rPr>
              <a:t>apakah menghargai orang lain, menjaga persatuan,</a:t>
            </a:r>
            <a:endParaRPr sz="20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>
                <a:solidFill>
                  <a:srgbClr val="24354C"/>
                </a:solidFill>
              </a:rPr>
              <a:t>dan menjalankan tanggung jawab?</a:t>
            </a:r>
            <a:endParaRPr sz="2000">
              <a:solidFill>
                <a:srgbClr val="24354C"/>
              </a:solidFill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457200" y="3784600"/>
            <a:ext cx="8229600" cy="1041300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3"/>
          <p:cNvSpPr/>
          <p:nvPr/>
        </p:nvSpPr>
        <p:spPr>
          <a:xfrm>
            <a:off x="457200" y="3784600"/>
            <a:ext cx="50700" cy="10413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3"/>
          <p:cNvSpPr/>
          <p:nvPr/>
        </p:nvSpPr>
        <p:spPr>
          <a:xfrm>
            <a:off x="622300" y="3848100"/>
            <a:ext cx="788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Contoh penerapan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Menikmati musik Korea sambil menghargai</a:t>
            </a:r>
            <a:endParaRPr b="1" sz="17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50">
                <a:solidFill>
                  <a:srgbClr val="172B46"/>
                </a:solidFill>
              </a:rPr>
              <a:t>kesenian daerah dan tidak mengejek selera teman.</a:t>
            </a:r>
            <a:endParaRPr b="1" sz="1750">
              <a:solidFill>
                <a:srgbClr val="172B46"/>
              </a:solidFill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457200" y="4927600"/>
            <a:ext cx="819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697789"/>
                </a:solidFill>
              </a:rPr>
              <a:t>KELAS VIII  |  Pancasila sebagai Kepribadian Bangsa  |  Buku paket hlm. 14–16</a:t>
            </a:r>
            <a:endParaRPr sz="800">
              <a:solidFill>
                <a:srgbClr val="6977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457200" y="165100"/>
            <a:ext cx="749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900">
                <a:solidFill>
                  <a:srgbClr val="6A7280"/>
                </a:solidFill>
              </a:rPr>
              <a:t>BAB I • KEDUDUKAN DAN FUNGSI PANCASILA</a:t>
            </a:r>
            <a:endParaRPr b="1" sz="900">
              <a:solidFill>
                <a:srgbClr val="6A7280"/>
              </a:solidFill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8280400" y="203200"/>
            <a:ext cx="50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300">
                <a:solidFill>
                  <a:srgbClr val="BD3345"/>
                </a:solidFill>
              </a:rPr>
              <a:t>12</a:t>
            </a:r>
            <a:endParaRPr b="1" sz="1300">
              <a:solidFill>
                <a:srgbClr val="BD3345"/>
              </a:solidFill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457200" y="596900"/>
            <a:ext cx="8255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900">
                <a:solidFill>
                  <a:srgbClr val="172B46"/>
                </a:solidFill>
              </a:rPr>
              <a:t>Pancasila tampak dalam tindakan</a:t>
            </a:r>
            <a:endParaRPr b="1" sz="2900">
              <a:solidFill>
                <a:srgbClr val="172B46"/>
              </a:solidFill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457200" y="1485900"/>
            <a:ext cx="82296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Kepribadian bangsa diwujudkan melalui: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kerukunan, kemanusiaan, persatuan,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musyawarah, dan keadilan.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Nilai Pancasila perlu terlihat di rumah,</a:t>
            </a:r>
            <a:endParaRPr sz="2100">
              <a:solidFill>
                <a:srgbClr val="24354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>
                <a:solidFill>
                  <a:srgbClr val="24354C"/>
                </a:solidFill>
              </a:rPr>
              <a:t>di sekolah, dan dalam pergaulan sehari-hari.</a:t>
            </a:r>
            <a:endParaRPr sz="2100">
              <a:solidFill>
                <a:srgbClr val="24354C"/>
              </a:solidFill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457200" y="3784600"/>
            <a:ext cx="8229600" cy="1041300"/>
          </a:xfrm>
          <a:prstGeom prst="rect">
            <a:avLst/>
          </a:prstGeom>
          <a:solidFill>
            <a:srgbClr val="E9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4"/>
          <p:cNvSpPr/>
          <p:nvPr/>
        </p:nvSpPr>
        <p:spPr>
          <a:xfrm>
            <a:off x="457200" y="3784600"/>
            <a:ext cx="50700" cy="1041300"/>
          </a:xfrm>
          <a:prstGeom prst="rect">
            <a:avLst/>
          </a:prstGeom>
          <a:solidFill>
            <a:srgbClr val="BD33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4"/>
          <p:cNvSpPr/>
          <p:nvPr/>
        </p:nvSpPr>
        <p:spPr>
          <a:xfrm>
            <a:off x="622300" y="3848100"/>
            <a:ext cx="788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150">
                <a:solidFill>
                  <a:srgbClr val="172B46"/>
                </a:solidFill>
              </a:rPr>
              <a:t>Sumber utama: Sapei, M., Trezadigjaya, &amp; Prayogo (2021).</a:t>
            </a:r>
            <a:endParaRPr sz="11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150">
                <a:solidFill>
                  <a:srgbClr val="172B46"/>
                </a:solidFill>
              </a:rPr>
              <a:t>Pendidikan Pancasila dan Kewarganegaraan untuk SMP Kelas VIII.</a:t>
            </a:r>
            <a:endParaRPr sz="11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150">
                <a:solidFill>
                  <a:srgbClr val="172B46"/>
                </a:solidFill>
              </a:rPr>
              <a:t>Pusat Perbukuan, Kemendikbudristek. Halaman 14–16.</a:t>
            </a:r>
            <a:endParaRPr sz="1150">
              <a:solidFill>
                <a:srgbClr val="172B46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150">
                <a:solidFill>
                  <a:srgbClr val="172B46"/>
                </a:solidFill>
              </a:rPr>
              <a:t>Contoh sekolah dan penjelasan penerapan dikembangkan dari materi buku.</a:t>
            </a:r>
            <a:endParaRPr sz="1150">
              <a:solidFill>
                <a:srgbClr val="172B46"/>
              </a:solidFill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457200" y="4927600"/>
            <a:ext cx="8191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800">
                <a:solidFill>
                  <a:srgbClr val="697789"/>
                </a:solidFill>
              </a:rPr>
              <a:t>KELAS VIII  |  Pancasila sebagai Kepribadian Bangsa  |  Buku paket hlm. 14–16</a:t>
            </a:r>
            <a:endParaRPr sz="800">
              <a:solidFill>
                <a:srgbClr val="6977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